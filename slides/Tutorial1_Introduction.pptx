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308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Northumbria University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11480" y="51206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Department of Mathematics, Physics and Electrical Engineering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1005840"/>
            <a:ext cx="77724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800" dirty="0">
                <a:solidFill>
                  <a:srgbClr val="29ABE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Tutorial 1: Introduction to</a:t>
            </a:r>
            <a:endParaRPr lang="en-US" sz="3800" dirty="0"/>
          </a:p>
          <a:p>
            <a:pPr algn="l" indent="0" marL="0">
              <a:buNone/>
            </a:pPr>
            <a:r>
              <a:rPr lang="en-US" sz="3800" dirty="0">
                <a:solidFill>
                  <a:srgbClr val="29ABE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Atomistic Simulation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11480" y="28346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308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Getting started with ASE and atomistic simulation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11480" y="342900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9ABE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Lucy Whalley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11480" y="37673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Northumbria University  •  KL6003 Atomistic Simulation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50892"/>
            <a:ext cx="2743200" cy="292608"/>
          </a:xfrm>
          <a:prstGeom prst="rect">
            <a:avLst/>
          </a:prstGeom>
          <a:solidFill>
            <a:srgbClr val="00B2D4"/>
          </a:solidFill>
          <a:ln w="12700">
            <a:solidFill>
              <a:srgbClr val="00B2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0" y="4850892"/>
            <a:ext cx="6400800" cy="292608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92608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rgbClr val="29ABE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What is Atomistic Simulation?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1051560"/>
            <a:ext cx="8138160" cy="3520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0308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Use quantum mechanics to predict how materials behave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0308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Compute properties — bandgaps, bond lengths, defect energies — without synthesising the material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0308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Bridge between atomic structure and measurable properties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0308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Increasingly used to guide and accelerate experimental discovery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0308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This course: solid-state materials for quantum and molecular optics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0" y="4850892"/>
            <a:ext cx="2743200" cy="292608"/>
          </a:xfrm>
          <a:prstGeom prst="rect">
            <a:avLst/>
          </a:prstGeom>
          <a:solidFill>
            <a:srgbClr val="00B2D4"/>
          </a:solidFill>
          <a:ln w="12700">
            <a:solidFill>
              <a:srgbClr val="00B2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4850892"/>
            <a:ext cx="6400800" cy="292608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50892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Atomic positions → material properties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92608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rgbClr val="29ABE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Why it Matters for Quantum Optics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960120"/>
            <a:ext cx="2011680" cy="2834640"/>
          </a:xfrm>
          <a:prstGeom prst="rect">
            <a:avLst/>
          </a:prstGeom>
          <a:solidFill>
            <a:srgbClr val="FFFFFF"/>
          </a:solidFill>
          <a:ln w="19050">
            <a:solidFill>
              <a:srgbClr val="D0E8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960120"/>
            <a:ext cx="2011680" cy="54864"/>
          </a:xfrm>
          <a:prstGeom prst="rect">
            <a:avLst/>
          </a:prstGeom>
          <a:solidFill>
            <a:srgbClr val="29ABE2"/>
          </a:solidFill>
          <a:ln w="12700">
            <a:solidFill>
              <a:srgbClr val="29ABE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3444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9ABE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637 nm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38328" y="2103120"/>
            <a:ext cx="18836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308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NV centre ZPL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38328" y="2697480"/>
            <a:ext cx="188366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Predicted by DFT+ΔSCF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to within 2%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68880" y="960120"/>
            <a:ext cx="2011680" cy="2834640"/>
          </a:xfrm>
          <a:prstGeom prst="rect">
            <a:avLst/>
          </a:prstGeom>
          <a:solidFill>
            <a:srgbClr val="FFFFFF"/>
          </a:solidFill>
          <a:ln w="19050">
            <a:solidFill>
              <a:srgbClr val="D0E8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468880" y="960120"/>
            <a:ext cx="2011680" cy="54864"/>
          </a:xfrm>
          <a:prstGeom prst="rect">
            <a:avLst/>
          </a:prstGeom>
          <a:solidFill>
            <a:srgbClr val="29ABE2"/>
          </a:solidFill>
          <a:ln w="12700">
            <a:solidFill>
              <a:srgbClr val="29AB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68880" y="123444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9ABE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~30 s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532888" y="2103120"/>
            <a:ext cx="18836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308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MACE pre-relaxation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532888" y="2697480"/>
            <a:ext cx="188366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vs 1–2 hours full DFT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0" y="960120"/>
            <a:ext cx="2011680" cy="2834640"/>
          </a:xfrm>
          <a:prstGeom prst="rect">
            <a:avLst/>
          </a:prstGeom>
          <a:solidFill>
            <a:srgbClr val="FFFFFF"/>
          </a:solidFill>
          <a:ln w="19050">
            <a:solidFill>
              <a:srgbClr val="D0E8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63440" y="960120"/>
            <a:ext cx="2011680" cy="54864"/>
          </a:xfrm>
          <a:prstGeom prst="rect">
            <a:avLst/>
          </a:prstGeom>
          <a:solidFill>
            <a:srgbClr val="29ABE2"/>
          </a:solidFill>
          <a:ln w="12700">
            <a:solidFill>
              <a:srgbClr val="29AB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123444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9ABE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89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4727448" y="2103120"/>
            <a:ext cx="18836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308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Elements in MACE-MP-0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27448" y="2697480"/>
            <a:ext cx="188366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Universal foundation model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858000" y="960120"/>
            <a:ext cx="2011680" cy="2834640"/>
          </a:xfrm>
          <a:prstGeom prst="rect">
            <a:avLst/>
          </a:prstGeom>
          <a:solidFill>
            <a:srgbClr val="FFFFFF"/>
          </a:solidFill>
          <a:ln w="19050">
            <a:solidFill>
              <a:srgbClr val="D0E8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58000" y="960120"/>
            <a:ext cx="2011680" cy="54864"/>
          </a:xfrm>
          <a:prstGeom prst="rect">
            <a:avLst/>
          </a:prstGeom>
          <a:solidFill>
            <a:srgbClr val="29ABE2"/>
          </a:solidFill>
          <a:ln w="12700">
            <a:solidFill>
              <a:srgbClr val="29ABE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0" y="123444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9ABE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HSE06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6922008" y="2103120"/>
            <a:ext cx="18836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308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Functional for gaps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922008" y="2697480"/>
            <a:ext cx="188366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Accurate to ~5% for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wide-gap hosts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0" y="4850892"/>
            <a:ext cx="2743200" cy="292608"/>
          </a:xfrm>
          <a:prstGeom prst="rect">
            <a:avLst/>
          </a:prstGeom>
          <a:solidFill>
            <a:srgbClr val="00B2D4"/>
          </a:solidFill>
          <a:ln w="12700">
            <a:solidFill>
              <a:srgbClr val="00B2D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0" y="4850892"/>
            <a:ext cx="6400800" cy="292608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92608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rgbClr val="29ABE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Course Structure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960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6666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 tutorials — each with a Jupyter notebook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1097280" cy="365760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3716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Tutorials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691640" y="1371600"/>
            <a:ext cx="3886200" cy="365760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91640" y="137160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Topics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669280" y="1371600"/>
            <a:ext cx="3017520" cy="365760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0" y="13716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Skills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1737360"/>
            <a:ext cx="1097280" cy="512064"/>
          </a:xfrm>
          <a:prstGeom prst="rect">
            <a:avLst/>
          </a:prstGeom>
          <a:solidFill>
            <a:srgbClr val="F4FAFD"/>
          </a:solidFill>
          <a:ln w="6350">
            <a:solidFill>
              <a:srgbClr val="D8EE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6072" y="1737360"/>
            <a:ext cx="1005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9ABE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1–3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691640" y="1737360"/>
            <a:ext cx="3886200" cy="512064"/>
          </a:xfrm>
          <a:prstGeom prst="rect">
            <a:avLst/>
          </a:prstGeom>
          <a:solidFill>
            <a:srgbClr val="F4FAFD"/>
          </a:solidFill>
          <a:ln w="6350">
            <a:solidFill>
              <a:srgbClr val="D8EE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764792" y="1737360"/>
            <a:ext cx="3794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308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Introduction, materials basics, working with atoms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669280" y="1737360"/>
            <a:ext cx="3017520" cy="512064"/>
          </a:xfrm>
          <a:prstGeom prst="rect">
            <a:avLst/>
          </a:prstGeom>
          <a:solidFill>
            <a:srgbClr val="F4FAFD"/>
          </a:solidFill>
          <a:ln w="6350">
            <a:solidFill>
              <a:srgbClr val="D8EE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42432" y="1737360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308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Python, ASE, file I/O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" y="2249424"/>
            <a:ext cx="10972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8EE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6072" y="2249424"/>
            <a:ext cx="1005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9ABE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4–5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691640" y="2249424"/>
            <a:ext cx="38862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8EEF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764792" y="2249424"/>
            <a:ext cx="3794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308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Manipulating atoms, potential energy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669280" y="2249424"/>
            <a:ext cx="30175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8EEF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42432" y="2249424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308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Supercells, defects, EOS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02920" y="2761488"/>
            <a:ext cx="1097280" cy="512064"/>
          </a:xfrm>
          <a:prstGeom prst="rect">
            <a:avLst/>
          </a:prstGeom>
          <a:solidFill>
            <a:srgbClr val="F4FAFD"/>
          </a:solidFill>
          <a:ln w="6350">
            <a:solidFill>
              <a:srgbClr val="D8EEF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6072" y="2761488"/>
            <a:ext cx="1005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9ABE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691640" y="2761488"/>
            <a:ext cx="3886200" cy="512064"/>
          </a:xfrm>
          <a:prstGeom prst="rect">
            <a:avLst/>
          </a:prstGeom>
          <a:solidFill>
            <a:srgbClr val="F4FAFD"/>
          </a:solidFill>
          <a:ln w="6350">
            <a:solidFill>
              <a:srgbClr val="D8EEF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764792" y="2761488"/>
            <a:ext cx="3794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308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Local optimisation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669280" y="2761488"/>
            <a:ext cx="3017520" cy="512064"/>
          </a:xfrm>
          <a:prstGeom prst="rect">
            <a:avLst/>
          </a:prstGeom>
          <a:solidFill>
            <a:srgbClr val="F4FAFD"/>
          </a:solidFill>
          <a:ln w="6350">
            <a:solidFill>
              <a:srgbClr val="D8EEF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742432" y="2761488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308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BFGS, FIRE, constraints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02920" y="3273552"/>
            <a:ext cx="10972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8EEF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6072" y="3273552"/>
            <a:ext cx="1005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9ABE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7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691640" y="3273552"/>
            <a:ext cx="38862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8EEF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764792" y="3273552"/>
            <a:ext cx="3794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308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Electronic structure (DFT)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669280" y="3273552"/>
            <a:ext cx="30175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8EEF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742432" y="3273552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308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GPAW, band structure, DOS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02920" y="3785616"/>
            <a:ext cx="1097280" cy="512064"/>
          </a:xfrm>
          <a:prstGeom prst="rect">
            <a:avLst/>
          </a:prstGeom>
          <a:solidFill>
            <a:srgbClr val="F4FAFD"/>
          </a:solidFill>
          <a:ln w="6350">
            <a:solidFill>
              <a:srgbClr val="D8EEF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76072" y="3785616"/>
            <a:ext cx="1005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9ABE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1691640" y="3785616"/>
            <a:ext cx="3886200" cy="512064"/>
          </a:xfrm>
          <a:prstGeom prst="rect">
            <a:avLst/>
          </a:prstGeom>
          <a:solidFill>
            <a:srgbClr val="F4FAFD"/>
          </a:solidFill>
          <a:ln w="6350">
            <a:solidFill>
              <a:srgbClr val="D8EEF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764792" y="3785616"/>
            <a:ext cx="3794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308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Machine-learned potentials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669280" y="3785616"/>
            <a:ext cx="3017520" cy="512064"/>
          </a:xfrm>
          <a:prstGeom prst="rect">
            <a:avLst/>
          </a:prstGeom>
          <a:solidFill>
            <a:srgbClr val="F4FAFD"/>
          </a:solidFill>
          <a:ln w="6350">
            <a:solidFill>
              <a:srgbClr val="D8EEF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742432" y="3785616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308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MACE-MP-0, multi-fidelity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502920" y="4297680"/>
            <a:ext cx="10972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8EEF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76072" y="4297680"/>
            <a:ext cx="1005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9ABE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9–10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1691640" y="4297680"/>
            <a:ext cx="38862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8EEF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764792" y="4297680"/>
            <a:ext cx="3794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308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Molecular dynamics, point defects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5669280" y="4297680"/>
            <a:ext cx="30175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8EEF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742432" y="4297680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308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NVT/NVE, quantum emitters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0" y="4850892"/>
            <a:ext cx="2743200" cy="292608"/>
          </a:xfrm>
          <a:prstGeom prst="rect">
            <a:avLst/>
          </a:prstGeom>
          <a:solidFill>
            <a:srgbClr val="00B2D4"/>
          </a:solidFill>
          <a:ln w="12700">
            <a:solidFill>
              <a:srgbClr val="00B2D4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743200" y="4850892"/>
            <a:ext cx="6400800" cy="292608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74320" y="4850892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Tutorials scaffold progressively toward the coursework assignment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92608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rgbClr val="29ABE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Tools Used in This Course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11480" y="100584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0308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SOFTWARE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1389888"/>
            <a:ext cx="3657600" cy="0"/>
          </a:xfrm>
          <a:prstGeom prst="line">
            <a:avLst/>
          </a:prstGeom>
          <a:noFill/>
          <a:ln w="19050">
            <a:solidFill>
              <a:srgbClr val="29ABE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508760"/>
            <a:ext cx="393192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0308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Python 3 (numpy, matplotlib, scipy)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0308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ASE — Atomic Simulation Environment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0308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GPAW — grid-based DFT code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0308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MACE — neural-network potential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0308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nglview — 3D molecular viewer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754880" y="100584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0308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HOW TO ACCESS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1389888"/>
            <a:ext cx="3657600" cy="0"/>
          </a:xfrm>
          <a:prstGeom prst="line">
            <a:avLst/>
          </a:prstGeom>
          <a:noFill/>
          <a:ln w="19050">
            <a:solidFill>
              <a:srgbClr val="29AB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0" y="1508760"/>
            <a:ext cx="393192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0308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Google Colab — no install needed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0308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Local: miniforge + conda environment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0308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Materials Project database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0308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Jupyter Lab / Notebooks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0308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Git for version control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0" y="4850892"/>
            <a:ext cx="2743200" cy="292608"/>
          </a:xfrm>
          <a:prstGeom prst="rect">
            <a:avLst/>
          </a:prstGeom>
          <a:solidFill>
            <a:srgbClr val="00B2D4"/>
          </a:solidFill>
          <a:ln w="12700">
            <a:solidFill>
              <a:srgbClr val="00B2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0" y="4850892"/>
            <a:ext cx="6400800" cy="292608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92608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rgbClr val="29ABE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Assessment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1051560"/>
            <a:ext cx="813816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00308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One coursework assignment — details released later in the module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00308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Computational study of a point defect in a wide-gap semiconductor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00308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You choose the material and defect system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00308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Group pairs (self-selected via a sign-up form)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00308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Tutorials scaffold progressively toward the assignment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00308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Each tutorial ends with a Coursework Preparation exercise — start these early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0" y="4850892"/>
            <a:ext cx="2743200" cy="292608"/>
          </a:xfrm>
          <a:prstGeom prst="rect">
            <a:avLst/>
          </a:prstGeom>
          <a:solidFill>
            <a:srgbClr val="00B2D4"/>
          </a:solidFill>
          <a:ln w="12700">
            <a:solidFill>
              <a:srgbClr val="00B2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4850892"/>
            <a:ext cx="6400800" cy="292608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50892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Details on the Assignment page of the course website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92608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rgbClr val="29ABE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How to Use These Notebooks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1051560"/>
            <a:ext cx="813816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00308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Read the narrative cells — they explain the concepts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00308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Run each code cell in order (Shift+Enter or the ▶ button)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00308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Modify the code and re-run — experimentation is encouraged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00308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Exercises at the end — attempt before the next session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00308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If something breaks: Kernel → Restart &amp; Run All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00308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Ask questions on Materials Science Stack Exchange or raise a GitHub issue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0" y="4850892"/>
            <a:ext cx="2743200" cy="292608"/>
          </a:xfrm>
          <a:prstGeom prst="rect">
            <a:avLst/>
          </a:prstGeom>
          <a:solidFill>
            <a:srgbClr val="00B2D4"/>
          </a:solidFill>
          <a:ln w="12700">
            <a:solidFill>
              <a:srgbClr val="00B2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4850892"/>
            <a:ext cx="6400800" cy="292608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50892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Colab launch button at the top of each page opens the notebook directly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92608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rgbClr val="29ABE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ASE: The Atomic Simulation Environment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11480" y="100584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0308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ASE PROVIDES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1389888"/>
            <a:ext cx="3657600" cy="0"/>
          </a:xfrm>
          <a:prstGeom prst="line">
            <a:avLst/>
          </a:prstGeom>
          <a:noFill/>
          <a:ln w="19050">
            <a:solidFill>
              <a:srgbClr val="29ABE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508760"/>
            <a:ext cx="393192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0308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Central object: the Atoms class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0308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Holds positions, cell, species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0308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Calculator interface for energies &amp; forces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0308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50+ file format I/O (CIF, XYZ, POSCAR…)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0308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Geometry optimisers and MD integrators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754880" y="100584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0308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CALCULATORS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1389888"/>
            <a:ext cx="3657600" cy="0"/>
          </a:xfrm>
          <a:prstGeom prst="line">
            <a:avLst/>
          </a:prstGeom>
          <a:noFill/>
          <a:ln w="19050">
            <a:solidFill>
              <a:srgbClr val="29AB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0" y="1508760"/>
            <a:ext cx="393192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0308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GPAW — grid-based DFT (PBE, HSE06)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0308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VASP, Quantum ESPRESSO, CASTEP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0308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EMT — fast classical potential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0308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MACE — neural-network potential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0308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All share the same ASE interface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0" y="4850892"/>
            <a:ext cx="2743200" cy="292608"/>
          </a:xfrm>
          <a:prstGeom prst="rect">
            <a:avLst/>
          </a:prstGeom>
          <a:solidFill>
            <a:srgbClr val="00B2D4"/>
          </a:solidFill>
          <a:ln w="12700">
            <a:solidFill>
              <a:srgbClr val="00B2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0" y="4850892"/>
            <a:ext cx="6400800" cy="292608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4850892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pip install ase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92608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rgbClr val="29ABE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Getting Started Today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1051560"/>
            <a:ext cx="813816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00308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Open Tutorial 1 in Google Colab (link on the course website)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00308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Run the import cell — check the ASE version prints successfully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00308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Work through the EMT energy example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00308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Complete Exercises 1.1 and 1.2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00308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Start Exercise 1.3 — begin thinking about your coursework material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00308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Install locally if you prefer: follow the Installation guide on the website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0" y="4850892"/>
            <a:ext cx="2743200" cy="292608"/>
          </a:xfrm>
          <a:prstGeom prst="rect">
            <a:avLst/>
          </a:prstGeom>
          <a:solidFill>
            <a:srgbClr val="00B2D4"/>
          </a:solidFill>
          <a:ln w="12700">
            <a:solidFill>
              <a:srgbClr val="00B2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4850892"/>
            <a:ext cx="6400800" cy="292608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92608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rgbClr val="29ABE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Key Points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1480" y="1115568"/>
            <a:ext cx="347472" cy="347472"/>
          </a:xfrm>
          <a:prstGeom prst="ellipse">
            <a:avLst/>
          </a:prstGeom>
          <a:solidFill>
            <a:srgbClr val="29ABE2"/>
          </a:solidFill>
          <a:ln w="12700">
            <a:solidFill>
              <a:srgbClr val="29ABE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1155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4400" y="1097280"/>
            <a:ext cx="7772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308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Materials simulation computes properties from atomic structure alone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11480" y="1810512"/>
            <a:ext cx="347472" cy="347472"/>
          </a:xfrm>
          <a:prstGeom prst="ellipse">
            <a:avLst/>
          </a:prstGeom>
          <a:solidFill>
            <a:srgbClr val="29ABE2"/>
          </a:solidFill>
          <a:ln w="12700">
            <a:solidFill>
              <a:srgbClr val="29AB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8105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1792224"/>
            <a:ext cx="7772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308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ASE provides a unified Python interface to many simulation backends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11480" y="2505456"/>
            <a:ext cx="347472" cy="347472"/>
          </a:xfrm>
          <a:prstGeom prst="ellipse">
            <a:avLst/>
          </a:prstGeom>
          <a:solidFill>
            <a:srgbClr val="29ABE2"/>
          </a:solidFill>
          <a:ln w="12700">
            <a:solidFill>
              <a:srgbClr val="29AB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5054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2487168"/>
            <a:ext cx="7772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308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Calculator (EMT, GPAW, MACE) computes energies and forces from an Atoms object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11480" y="3200400"/>
            <a:ext cx="347472" cy="347472"/>
          </a:xfrm>
          <a:prstGeom prst="ellipse">
            <a:avLst/>
          </a:prstGeom>
          <a:solidFill>
            <a:srgbClr val="29ABE2"/>
          </a:solidFill>
          <a:ln w="12700">
            <a:solidFill>
              <a:srgbClr val="29ABE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32004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4400" y="3182112"/>
            <a:ext cx="7772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308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This course applies these tools to materials for quantum and molecular optics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11480" y="3895344"/>
            <a:ext cx="347472" cy="347472"/>
          </a:xfrm>
          <a:prstGeom prst="ellipse">
            <a:avLst/>
          </a:prstGeom>
          <a:solidFill>
            <a:srgbClr val="29ABE2"/>
          </a:solidFill>
          <a:ln w="12700">
            <a:solidFill>
              <a:srgbClr val="29ABE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38953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14400" y="3877056"/>
            <a:ext cx="7772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9ABE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Start thinking about your coursework material now (Exercise 1.3)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0" y="4850892"/>
            <a:ext cx="2743200" cy="292608"/>
          </a:xfrm>
          <a:prstGeom prst="rect">
            <a:avLst/>
          </a:prstGeom>
          <a:solidFill>
            <a:srgbClr val="00B2D4"/>
          </a:solidFill>
          <a:ln w="12700">
            <a:solidFill>
              <a:srgbClr val="00B2D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0" y="4850892"/>
            <a:ext cx="6400800" cy="292608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4850892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KL6003 Atomistic Simulation  •  Northumbria University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KL6003 Atomistic Simulation — Tutorial 1: Introduction</dc:title>
  <dc:subject>PptxGenJS Presentation</dc:subject>
  <dc:creator>Lucy Whalley</dc:creator>
  <cp:lastModifiedBy>Lucy Whalley</cp:lastModifiedBy>
  <cp:revision>1</cp:revision>
  <dcterms:created xsi:type="dcterms:W3CDTF">2026-04-26T15:32:45Z</dcterms:created>
  <dcterms:modified xsi:type="dcterms:W3CDTF">2026-04-26T15:32:45Z</dcterms:modified>
</cp:coreProperties>
</file>